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4"/>
  </p:notesMasterIdLst>
  <p:sldIdLst>
    <p:sldId id="299" r:id="rId2"/>
    <p:sldId id="256" r:id="rId3"/>
    <p:sldId id="308" r:id="rId4"/>
    <p:sldId id="306" r:id="rId5"/>
    <p:sldId id="307" r:id="rId6"/>
    <p:sldId id="312" r:id="rId7"/>
    <p:sldId id="311" r:id="rId8"/>
    <p:sldId id="310" r:id="rId9"/>
    <p:sldId id="297" r:id="rId10"/>
    <p:sldId id="303" r:id="rId11"/>
    <p:sldId id="309" r:id="rId12"/>
    <p:sldId id="305" r:id="rId13"/>
  </p:sldIdLst>
  <p:sldSz cx="9144000" cy="5143500" type="screen16x9"/>
  <p:notesSz cx="6858000" cy="9144000"/>
  <p:embeddedFontLst>
    <p:embeddedFont>
      <p:font typeface="Bebas Neue Bold" panose="020B0604020202020204" charset="0"/>
      <p:regular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old" panose="00000800000000000000" charset="0"/>
      <p:regular r:id="rId24"/>
      <p:bold r:id="rId25"/>
    </p:embeddedFont>
    <p:embeddedFont>
      <p:font typeface="Montserrat Bold Italics" panose="020B0604020202020204" charset="0"/>
      <p:regular r:id="rId26"/>
    </p:embeddedFont>
    <p:embeddedFont>
      <p:font typeface="Montserrat Italics" panose="020B0604020202020204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150"/>
    <a:srgbClr val="F3D23D"/>
    <a:srgbClr val="363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B346E-5BF1-49F8-AC4E-3D15CD82301F}" v="30" dt="2026-04-13T07:05:09.634"/>
  </p1510:revLst>
</p1510:revInfo>
</file>

<file path=ppt/tableStyles.xml><?xml version="1.0" encoding="utf-8"?>
<a:tblStyleLst xmlns:a="http://schemas.openxmlformats.org/drawingml/2006/main" def="{4021C0AD-611A-4753-9C74-AEDF5A1475C8}">
  <a:tblStyle styleId="{4021C0AD-611A-4753-9C74-AEDF5A1475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FC906AC-2525-4E8E-9C7B-51549CA368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2087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778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4410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101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9400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504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0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3602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321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1829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8349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8352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8773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6576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4705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6393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0600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22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20F95-9FC8-8F51-8FEC-EEB389D9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82029C-990A-6AAA-76FD-D2EE0F3340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3" y="369300"/>
            <a:ext cx="4207725" cy="7878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D984C4-0827-6453-F0C1-D8CDF23917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66E9A6-A408-895A-2624-848321A7B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717" y="1157103"/>
            <a:ext cx="3658722" cy="3300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22547C-149D-2178-1AA5-E2D87BE62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71" y="4680855"/>
            <a:ext cx="1124107" cy="363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750FA8-AECE-35B4-74BA-A8FC0B324306}"/>
              </a:ext>
            </a:extLst>
          </p:cNvPr>
          <p:cNvSpPr txBox="1"/>
          <p:nvPr/>
        </p:nvSpPr>
        <p:spPr>
          <a:xfrm>
            <a:off x="428625" y="4680855"/>
            <a:ext cx="651140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2641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1" y="-16223"/>
            <a:ext cx="6895325" cy="5175945"/>
            <a:chOff x="0" y="0"/>
            <a:chExt cx="13075580" cy="981512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27000"/>
            </a:blip>
            <a:srcRect l="42" r="42"/>
            <a:stretch>
              <a:fillRect/>
            </a:stretch>
          </p:blipFill>
          <p:spPr>
            <a:xfrm>
              <a:off x="0" y="0"/>
              <a:ext cx="13075580" cy="9815126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2760420" y="1357838"/>
            <a:ext cx="950585" cy="723579"/>
          </a:xfrm>
          <a:custGeom>
            <a:avLst/>
            <a:gdLst/>
            <a:ahLst/>
            <a:cxnLst/>
            <a:rect l="l" t="t" r="r" b="b"/>
            <a:pathLst>
              <a:path w="1351943" h="1029090">
                <a:moveTo>
                  <a:pt x="0" y="0"/>
                </a:moveTo>
                <a:lnTo>
                  <a:pt x="1351943" y="0"/>
                </a:lnTo>
                <a:lnTo>
                  <a:pt x="1351943" y="1029089"/>
                </a:lnTo>
                <a:lnTo>
                  <a:pt x="0" y="1029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6" r="-316"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5" name="TextBox 5"/>
          <p:cNvSpPr txBox="1"/>
          <p:nvPr/>
        </p:nvSpPr>
        <p:spPr>
          <a:xfrm>
            <a:off x="2642999" y="2418342"/>
            <a:ext cx="1185426" cy="29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23" spc="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PRODUCT OVERVIEW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120775" y="2244213"/>
            <a:ext cx="229874" cy="33486"/>
            <a:chOff x="0" y="0"/>
            <a:chExt cx="7265147" cy="1058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5147" cy="1058333"/>
            </a:xfrm>
            <a:custGeom>
              <a:avLst/>
              <a:gdLst/>
              <a:ahLst/>
              <a:cxnLst/>
              <a:rect l="l" t="t" r="r" b="b"/>
              <a:pathLst>
                <a:path w="7265147" h="1058333">
                  <a:moveTo>
                    <a:pt x="0" y="0"/>
                  </a:moveTo>
                  <a:lnTo>
                    <a:pt x="7265147" y="0"/>
                  </a:lnTo>
                  <a:lnTo>
                    <a:pt x="7265147" y="1058333"/>
                  </a:lnTo>
                  <a:lnTo>
                    <a:pt x="0" y="1058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sz="984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22798" y="2418341"/>
            <a:ext cx="1292572" cy="29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23" spc="1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HARDWARE AND BASE SOFTWARE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631681" y="2227470"/>
            <a:ext cx="229874" cy="33486"/>
            <a:chOff x="0" y="0"/>
            <a:chExt cx="7265147" cy="1058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5147" cy="1058333"/>
            </a:xfrm>
            <a:custGeom>
              <a:avLst/>
              <a:gdLst/>
              <a:ahLst/>
              <a:cxnLst/>
              <a:rect l="l" t="t" r="r" b="b"/>
              <a:pathLst>
                <a:path w="7265147" h="1058333">
                  <a:moveTo>
                    <a:pt x="0" y="0"/>
                  </a:moveTo>
                  <a:lnTo>
                    <a:pt x="7265147" y="0"/>
                  </a:lnTo>
                  <a:lnTo>
                    <a:pt x="7265147" y="1058333"/>
                  </a:lnTo>
                  <a:lnTo>
                    <a:pt x="0" y="1058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sz="984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31681" y="3872521"/>
            <a:ext cx="229874" cy="33486"/>
            <a:chOff x="0" y="0"/>
            <a:chExt cx="7265147" cy="1058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5147" cy="1058333"/>
            </a:xfrm>
            <a:custGeom>
              <a:avLst/>
              <a:gdLst/>
              <a:ahLst/>
              <a:cxnLst/>
              <a:rect l="l" t="t" r="r" b="b"/>
              <a:pathLst>
                <a:path w="7265147" h="1058333">
                  <a:moveTo>
                    <a:pt x="0" y="0"/>
                  </a:moveTo>
                  <a:lnTo>
                    <a:pt x="7265147" y="0"/>
                  </a:lnTo>
                  <a:lnTo>
                    <a:pt x="7265147" y="1058333"/>
                  </a:lnTo>
                  <a:lnTo>
                    <a:pt x="0" y="1058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sz="984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062522" y="4072016"/>
            <a:ext cx="1352848" cy="29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23" i="1" spc="107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END-EFFECTOR SEQUENCING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4928" y="372567"/>
            <a:ext cx="2672209" cy="10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43"/>
              </a:lnSpc>
            </a:pPr>
            <a:r>
              <a:rPr lang="en-US" sz="548" spc="82">
                <a:solidFill>
                  <a:srgbClr val="FFEC4F"/>
                </a:solidFill>
                <a:latin typeface="Montserrat"/>
                <a:ea typeface="Montserrat"/>
                <a:cs typeface="Montserrat"/>
                <a:sym typeface="Montserrat"/>
              </a:rPr>
              <a:t>AUTONOMOUS CYLINDER PICK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4928" y="587526"/>
            <a:ext cx="3261568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27"/>
              </a:lnSpc>
            </a:pPr>
            <a:r>
              <a:rPr lang="en-US" sz="1233" b="1" spc="160">
                <a:solidFill>
                  <a:srgbClr val="FFEC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CHAPTERS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55138" y="4553024"/>
            <a:ext cx="6031512" cy="20092"/>
          </a:xfrm>
          <a:custGeom>
            <a:avLst/>
            <a:gdLst/>
            <a:ahLst/>
            <a:cxnLst/>
            <a:rect l="l" t="t" r="r" b="b"/>
            <a:pathLst>
              <a:path w="8578151" h="28575">
                <a:moveTo>
                  <a:pt x="0" y="0"/>
                </a:moveTo>
                <a:lnTo>
                  <a:pt x="8578151" y="0"/>
                </a:lnTo>
                <a:lnTo>
                  <a:pt x="857815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4959887" b="-14959887"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19" name="Freeform 19"/>
          <p:cNvSpPr/>
          <p:nvPr/>
        </p:nvSpPr>
        <p:spPr>
          <a:xfrm>
            <a:off x="5271326" y="1357838"/>
            <a:ext cx="950585" cy="723579"/>
          </a:xfrm>
          <a:custGeom>
            <a:avLst/>
            <a:gdLst/>
            <a:ahLst/>
            <a:cxnLst/>
            <a:rect l="l" t="t" r="r" b="b"/>
            <a:pathLst>
              <a:path w="1351943" h="1029090">
                <a:moveTo>
                  <a:pt x="0" y="0"/>
                </a:moveTo>
                <a:lnTo>
                  <a:pt x="1351943" y="0"/>
                </a:lnTo>
                <a:lnTo>
                  <a:pt x="1351943" y="1029089"/>
                </a:lnTo>
                <a:lnTo>
                  <a:pt x="0" y="1029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6" r="-316"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20" name="Freeform 20"/>
          <p:cNvSpPr/>
          <p:nvPr/>
        </p:nvSpPr>
        <p:spPr>
          <a:xfrm>
            <a:off x="2760420" y="2968115"/>
            <a:ext cx="950585" cy="723579"/>
          </a:xfrm>
          <a:custGeom>
            <a:avLst/>
            <a:gdLst/>
            <a:ahLst/>
            <a:cxnLst/>
            <a:rect l="l" t="t" r="r" b="b"/>
            <a:pathLst>
              <a:path w="1351943" h="1029090">
                <a:moveTo>
                  <a:pt x="0" y="0"/>
                </a:moveTo>
                <a:lnTo>
                  <a:pt x="1351943" y="0"/>
                </a:lnTo>
                <a:lnTo>
                  <a:pt x="1351943" y="1029090"/>
                </a:lnTo>
                <a:lnTo>
                  <a:pt x="0" y="1029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6" r="-316"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21" name="Freeform 21"/>
          <p:cNvSpPr/>
          <p:nvPr/>
        </p:nvSpPr>
        <p:spPr>
          <a:xfrm>
            <a:off x="5271326" y="2968115"/>
            <a:ext cx="950585" cy="723579"/>
          </a:xfrm>
          <a:custGeom>
            <a:avLst/>
            <a:gdLst/>
            <a:ahLst/>
            <a:cxnLst/>
            <a:rect l="l" t="t" r="r" b="b"/>
            <a:pathLst>
              <a:path w="1351943" h="1029090">
                <a:moveTo>
                  <a:pt x="0" y="0"/>
                </a:moveTo>
                <a:lnTo>
                  <a:pt x="1351943" y="0"/>
                </a:lnTo>
                <a:lnTo>
                  <a:pt x="1351943" y="1029090"/>
                </a:lnTo>
                <a:lnTo>
                  <a:pt x="0" y="1029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6" r="-316"/>
            </a:stretch>
          </a:blipFill>
        </p:spPr>
        <p:txBody>
          <a:bodyPr/>
          <a:lstStyle/>
          <a:p>
            <a:endParaRPr lang="en-GB" sz="984"/>
          </a:p>
        </p:txBody>
      </p:sp>
      <p:grpSp>
        <p:nvGrpSpPr>
          <p:cNvPr id="22" name="Group 22"/>
          <p:cNvGrpSpPr/>
          <p:nvPr/>
        </p:nvGrpSpPr>
        <p:grpSpPr>
          <a:xfrm>
            <a:off x="3120775" y="3889263"/>
            <a:ext cx="229874" cy="38710"/>
            <a:chOff x="0" y="0"/>
            <a:chExt cx="7265147" cy="122343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65147" cy="1223433"/>
            </a:xfrm>
            <a:custGeom>
              <a:avLst/>
              <a:gdLst/>
              <a:ahLst/>
              <a:cxnLst/>
              <a:rect l="l" t="t" r="r" b="b"/>
              <a:pathLst>
                <a:path w="7265147" h="1223433">
                  <a:moveTo>
                    <a:pt x="0" y="0"/>
                  </a:moveTo>
                  <a:lnTo>
                    <a:pt x="7265147" y="0"/>
                  </a:lnTo>
                  <a:lnTo>
                    <a:pt x="7265147" y="1223433"/>
                  </a:lnTo>
                  <a:lnTo>
                    <a:pt x="0" y="12234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sz="984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559288" y="4072016"/>
            <a:ext cx="1352848" cy="29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"/>
              </a:lnSpc>
            </a:pPr>
            <a:r>
              <a:rPr lang="en-US" sz="823" i="1" spc="107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CAMERA SEQUENCING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F992E2-35C7-9492-24A9-0C7358353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345" y="4748055"/>
            <a:ext cx="262459" cy="236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72382" y="4518273"/>
            <a:ext cx="3345266" cy="20092"/>
          </a:xfrm>
          <a:custGeom>
            <a:avLst/>
            <a:gdLst/>
            <a:ahLst/>
            <a:cxnLst/>
            <a:rect l="l" t="t" r="r" b="b"/>
            <a:pathLst>
              <a:path w="4757712" h="28575">
                <a:moveTo>
                  <a:pt x="0" y="0"/>
                </a:moveTo>
                <a:lnTo>
                  <a:pt x="4757712" y="0"/>
                </a:lnTo>
                <a:lnTo>
                  <a:pt x="4757712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8274954" b="-8274954"/>
            </a:stretch>
          </a:blipFill>
        </p:spPr>
        <p:txBody>
          <a:bodyPr/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060"/>
          </a:p>
        </p:txBody>
      </p:sp>
      <p:grpSp>
        <p:nvGrpSpPr>
          <p:cNvPr id="6" name="Group 6"/>
          <p:cNvGrpSpPr/>
          <p:nvPr/>
        </p:nvGrpSpPr>
        <p:grpSpPr>
          <a:xfrm>
            <a:off x="0" y="-22118"/>
            <a:ext cx="3332028" cy="5156391"/>
            <a:chOff x="0" y="0"/>
            <a:chExt cx="5357468" cy="9778045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rcRect t="15778" b="15778"/>
            <a:stretch>
              <a:fillRect/>
            </a:stretch>
          </p:blipFill>
          <p:spPr>
            <a:xfrm>
              <a:off x="0" y="0"/>
              <a:ext cx="5357468" cy="4889023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rcRect t="15778" b="15778"/>
            <a:stretch>
              <a:fillRect/>
            </a:stretch>
          </p:blipFill>
          <p:spPr>
            <a:xfrm>
              <a:off x="0" y="4889023"/>
              <a:ext cx="5357468" cy="4889023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7294785" y="4716175"/>
            <a:ext cx="302965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781"/>
              </a:lnSpc>
            </a:pPr>
            <a:r>
              <a:rPr lang="en-US" sz="737" b="1">
                <a:solidFill>
                  <a:srgbClr val="36363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caff.co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2797" y="1045128"/>
            <a:ext cx="3955532" cy="104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lvl="1" indent="-101600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3DOF Gantry Robot</a:t>
            </a:r>
            <a:endParaRPr lang="en-US"/>
          </a:p>
          <a:p>
            <a:pPr marL="203200" lvl="1" indent="-101600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Gearbox with teethed rails</a:t>
            </a:r>
            <a:endParaRPr lang="en-US" sz="1233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203200" lvl="1" indent="-101600">
              <a:lnSpc>
                <a:spcPts val="2122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 Stepper Motors, 2 Servo Motors</a:t>
            </a:r>
            <a:endParaRPr lang="en-US" sz="120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marL="203200" lvl="1" indent="-101600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Homing system</a:t>
            </a:r>
            <a:endParaRPr lang="en-US" sz="1233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070490" y="437395"/>
            <a:ext cx="3368725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770"/>
              </a:lnSpc>
            </a:pPr>
            <a:r>
              <a:rPr lang="en-US" sz="2473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OUR PRODUCT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76623" y="333456"/>
            <a:ext cx="2672209" cy="103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943"/>
              </a:lnSpc>
            </a:pPr>
            <a:r>
              <a:rPr lang="en-US" sz="548" spc="82" dirty="0">
                <a:solidFill>
                  <a:srgbClr val="FFEC4F"/>
                </a:solidFill>
                <a:latin typeface="Montserrat"/>
                <a:ea typeface="Montserrat"/>
                <a:cs typeface="Montserrat"/>
                <a:sym typeface="Montserrat"/>
              </a:rPr>
              <a:t>AUTONOMOUS CYLINDER PICK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2728" y="4745653"/>
            <a:ext cx="264258" cy="89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81"/>
              </a:lnSpc>
            </a:pPr>
            <a:r>
              <a:rPr lang="en-US" sz="642" b="1">
                <a:solidFill>
                  <a:srgbClr val="36363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app.co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083006" y="918418"/>
            <a:ext cx="3944935" cy="1304423"/>
            <a:chOff x="0" y="0"/>
            <a:chExt cx="1470541" cy="6871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70541" cy="687104"/>
            </a:xfrm>
            <a:custGeom>
              <a:avLst/>
              <a:gdLst/>
              <a:ahLst/>
              <a:cxnLst/>
              <a:rect l="l" t="t" r="r" b="b"/>
              <a:pathLst>
                <a:path w="1470541" h="687104">
                  <a:moveTo>
                    <a:pt x="23399" y="0"/>
                  </a:moveTo>
                  <a:lnTo>
                    <a:pt x="1447142" y="0"/>
                  </a:lnTo>
                  <a:cubicBezTo>
                    <a:pt x="1460065" y="0"/>
                    <a:pt x="1470541" y="10476"/>
                    <a:pt x="1470541" y="23399"/>
                  </a:cubicBezTo>
                  <a:lnTo>
                    <a:pt x="1470541" y="663705"/>
                  </a:lnTo>
                  <a:cubicBezTo>
                    <a:pt x="1470541" y="676628"/>
                    <a:pt x="1460065" y="687104"/>
                    <a:pt x="1447142" y="687104"/>
                  </a:cubicBezTo>
                  <a:lnTo>
                    <a:pt x="23399" y="687104"/>
                  </a:lnTo>
                  <a:cubicBezTo>
                    <a:pt x="10476" y="687104"/>
                    <a:pt x="0" y="676628"/>
                    <a:pt x="0" y="663705"/>
                  </a:cubicBezTo>
                  <a:lnTo>
                    <a:pt x="0" y="23399"/>
                  </a:lnTo>
                  <a:cubicBezTo>
                    <a:pt x="0" y="10476"/>
                    <a:pt x="10476" y="0"/>
                    <a:pt x="23399" y="0"/>
                  </a:cubicBezTo>
                  <a:close/>
                </a:path>
              </a:pathLst>
            </a:custGeom>
            <a:ln w="85725" cap="sq">
              <a:solidFill>
                <a:srgbClr val="F3D23D"/>
              </a:solidFill>
              <a:prstDash val="sysDot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67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353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029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070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13382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96058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8735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61411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06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470541" cy="782354"/>
            </a:xfrm>
            <a:prstGeom prst="rect">
              <a:avLst/>
            </a:prstGeom>
          </p:spPr>
          <p:txBody>
            <a:bodyPr lIns="35719" tIns="35719" rIns="35719" bIns="35719" rtlCol="0" anchor="ctr"/>
            <a:lstStyle>
              <a:defPPr>
                <a:defRPr lang="en-US"/>
              </a:defPPr>
              <a:lvl1pPr marL="0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67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353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029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070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13382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96058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8735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61411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122"/>
                </a:lnSpc>
              </a:pPr>
              <a:endParaRPr sz="106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070490" y="2376542"/>
            <a:ext cx="3368725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770"/>
              </a:lnSpc>
            </a:pPr>
            <a:r>
              <a:rPr lang="en-US" sz="2473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WHY?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093212" y="2859810"/>
            <a:ext cx="3934729" cy="1456228"/>
            <a:chOff x="0" y="0"/>
            <a:chExt cx="1470541" cy="7294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70541" cy="729437"/>
            </a:xfrm>
            <a:custGeom>
              <a:avLst/>
              <a:gdLst/>
              <a:ahLst/>
              <a:cxnLst/>
              <a:rect l="l" t="t" r="r" b="b"/>
              <a:pathLst>
                <a:path w="1470541" h="729437">
                  <a:moveTo>
                    <a:pt x="23399" y="0"/>
                  </a:moveTo>
                  <a:lnTo>
                    <a:pt x="1447142" y="0"/>
                  </a:lnTo>
                  <a:cubicBezTo>
                    <a:pt x="1460065" y="0"/>
                    <a:pt x="1470541" y="10476"/>
                    <a:pt x="1470541" y="23399"/>
                  </a:cubicBezTo>
                  <a:lnTo>
                    <a:pt x="1470541" y="706038"/>
                  </a:lnTo>
                  <a:cubicBezTo>
                    <a:pt x="1470541" y="718961"/>
                    <a:pt x="1460065" y="729437"/>
                    <a:pt x="1447142" y="729437"/>
                  </a:cubicBezTo>
                  <a:lnTo>
                    <a:pt x="23399" y="729437"/>
                  </a:lnTo>
                  <a:cubicBezTo>
                    <a:pt x="10476" y="729437"/>
                    <a:pt x="0" y="718961"/>
                    <a:pt x="0" y="706038"/>
                  </a:cubicBezTo>
                  <a:lnTo>
                    <a:pt x="0" y="23399"/>
                  </a:lnTo>
                  <a:cubicBezTo>
                    <a:pt x="0" y="10476"/>
                    <a:pt x="10476" y="0"/>
                    <a:pt x="23399" y="0"/>
                  </a:cubicBezTo>
                  <a:close/>
                </a:path>
              </a:pathLst>
            </a:custGeom>
            <a:ln w="85725" cap="sq">
              <a:solidFill>
                <a:srgbClr val="F3D23D"/>
              </a:solidFill>
              <a:prstDash val="sysDot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67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353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029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070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13382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96058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8735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61411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06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470541" cy="824687"/>
            </a:xfrm>
            <a:prstGeom prst="rect">
              <a:avLst/>
            </a:prstGeom>
          </p:spPr>
          <p:txBody>
            <a:bodyPr lIns="35719" tIns="35719" rIns="35719" bIns="35719" rtlCol="0" anchor="ctr"/>
            <a:lstStyle>
              <a:defPPr>
                <a:defRPr lang="en-US"/>
              </a:defPPr>
              <a:lvl1pPr marL="0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67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353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029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0706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13382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96058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8735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61411" algn="l" defTabSz="765353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122"/>
                </a:lnSpc>
              </a:pPr>
              <a:endParaRPr sz="106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104376" y="3006509"/>
            <a:ext cx="3938653" cy="104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267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5353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8029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0706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13382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96058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8735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1411" algn="l" defTabSz="765353" rtl="0" eaLnBrk="1" latinLnBrk="0" hangingPunct="1"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lvl="1" indent="-101600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Accurate, repeatable and simple​</a:t>
            </a:r>
            <a:endParaRPr lang="en-US"/>
          </a:p>
          <a:p>
            <a:pPr marL="203723" lvl="1" indent="-101862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Stable structure​</a:t>
            </a:r>
          </a:p>
          <a:p>
            <a:pPr marL="203723" lvl="1" indent="-101862" algn="l">
              <a:lnSpc>
                <a:spcPts val="2122"/>
              </a:lnSpc>
              <a:buFont typeface="Arial"/>
              <a:buChar char="•"/>
            </a:pPr>
            <a:r>
              <a:rPr lang="en-US" sz="12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Ideal for environment</a:t>
            </a:r>
          </a:p>
          <a:p>
            <a:pPr marL="203723" lvl="1" indent="-101862" algn="l">
              <a:lnSpc>
                <a:spcPts val="2122"/>
              </a:lnSpc>
              <a:buFont typeface="Arial"/>
              <a:buChar char="•"/>
            </a:pPr>
            <a:endParaRPr lang="en-US" sz="1233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" name="Picture 24" descr="A yellow circle with white text&#10;&#10;AI-generated content may be incorrect.">
            <a:extLst>
              <a:ext uri="{FF2B5EF4-FFF2-40B4-BE49-F238E27FC236}">
                <a16:creationId xmlns:a16="http://schemas.microsoft.com/office/drawing/2014/main" id="{BDF1173C-5EFA-80B9-293A-A8E32DE29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434" y="4596886"/>
            <a:ext cx="585563" cy="4640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2CE049A-0ACB-2D6C-41C8-4BBC87F21FD3}"/>
              </a:ext>
            </a:extLst>
          </p:cNvPr>
          <p:cNvSpPr txBox="1"/>
          <p:nvPr/>
        </p:nvSpPr>
        <p:spPr>
          <a:xfrm>
            <a:off x="3988253" y="4644265"/>
            <a:ext cx="4894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F3D23D"/>
                </a:solidFill>
              </a:rPr>
              <a:t>Daniel</a:t>
            </a:r>
            <a:endParaRPr lang="en-GB" sz="1800" dirty="0">
              <a:solidFill>
                <a:srgbClr val="F3D2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3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C06D7-0411-E94A-6A32-BDB28F0F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CE57CCB-1248-7DE7-1A35-ACACC72A86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C1F625-D667-2899-7078-FE00022A6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1" y="4672895"/>
            <a:ext cx="1124107" cy="371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EB29D6-9F60-E1C4-9EAC-DB72FAD19FAA}"/>
              </a:ext>
            </a:extLst>
          </p:cNvPr>
          <p:cNvSpPr txBox="1"/>
          <p:nvPr/>
        </p:nvSpPr>
        <p:spPr>
          <a:xfrm>
            <a:off x="428625" y="4680855"/>
            <a:ext cx="630301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TWO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D6A9E-4C9E-8BBC-07ED-D058B7323169}"/>
              </a:ext>
            </a:extLst>
          </p:cNvPr>
          <p:cNvSpPr txBox="1"/>
          <p:nvPr/>
        </p:nvSpPr>
        <p:spPr>
          <a:xfrm>
            <a:off x="-648991" y="314809"/>
            <a:ext cx="765228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1" i="0" cap="all">
                <a:solidFill>
                  <a:srgbClr val="FFF150"/>
                </a:solidFill>
              </a:rPr>
              <a:t>Hardware and Base Software</a:t>
            </a:r>
          </a:p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5A5C59-F32C-A9DF-AE16-58C20AD7D09F}"/>
              </a:ext>
            </a:extLst>
          </p:cNvPr>
          <p:cNvSpPr/>
          <p:nvPr/>
        </p:nvSpPr>
        <p:spPr>
          <a:xfrm>
            <a:off x="0" y="879594"/>
            <a:ext cx="9139670" cy="3714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601543-8484-0D60-00D0-0701130D1E27}"/>
              </a:ext>
            </a:extLst>
          </p:cNvPr>
          <p:cNvSpPr/>
          <p:nvPr/>
        </p:nvSpPr>
        <p:spPr>
          <a:xfrm>
            <a:off x="471236" y="1316421"/>
            <a:ext cx="2850071" cy="2841096"/>
          </a:xfrm>
          <a:prstGeom prst="ellipse">
            <a:avLst/>
          </a:prstGeom>
          <a:solidFill>
            <a:srgbClr val="F3D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363633"/>
                </a:solidFill>
                <a:cs typeface="Arial"/>
              </a:rPr>
              <a:t>ESP32-S3-DEV2</a:t>
            </a:r>
            <a:endParaRPr lang="en-US"/>
          </a:p>
          <a:p>
            <a:pPr algn="ctr"/>
            <a:endParaRPr lang="en-US" sz="1100" b="1">
              <a:solidFill>
                <a:srgbClr val="363633"/>
              </a:solidFill>
              <a:latin typeface="Arial"/>
              <a:cs typeface="Arial"/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363633"/>
                </a:solidFill>
                <a:latin typeface="Montserrat"/>
                <a:cs typeface="Arial"/>
              </a:rPr>
              <a:t>Compact</a:t>
            </a:r>
            <a:endParaRPr lang="en-US" sz="180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363633"/>
                </a:solidFill>
                <a:latin typeface="Montserrat"/>
                <a:cs typeface="Arial"/>
              </a:rPr>
              <a:t>Processing Capability</a:t>
            </a:r>
            <a:endParaRPr lang="en-US" sz="180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 err="1">
                <a:solidFill>
                  <a:srgbClr val="363633"/>
                </a:solidFill>
                <a:latin typeface="Montserrat"/>
                <a:cs typeface="Arial"/>
              </a:rPr>
              <a:t>WiFi</a:t>
            </a:r>
            <a:r>
              <a:rPr lang="en-US" sz="1800">
                <a:solidFill>
                  <a:srgbClr val="363633"/>
                </a:solidFill>
                <a:latin typeface="Montserrat"/>
                <a:cs typeface="Arial"/>
              </a:rPr>
              <a:t>/</a:t>
            </a:r>
            <a:endParaRPr lang="en-US" sz="1800">
              <a:solidFill>
                <a:srgbClr val="EAEFF4"/>
              </a:solidFill>
              <a:latin typeface="Arial"/>
              <a:cs typeface="Arial"/>
            </a:endParaRPr>
          </a:p>
          <a:p>
            <a:r>
              <a:rPr lang="en-US" sz="1800">
                <a:solidFill>
                  <a:srgbClr val="363633"/>
                </a:solidFill>
                <a:latin typeface="Montserrat"/>
                <a:cs typeface="Arial"/>
              </a:rPr>
              <a:t>  Bluetooth</a:t>
            </a:r>
            <a:endParaRPr lang="en-US" sz="1800">
              <a:cs typeface="Arial"/>
            </a:endParaRPr>
          </a:p>
          <a:p>
            <a:pPr algn="ctr"/>
            <a:endParaRPr lang="en-US">
              <a:latin typeface="Arial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D5E7AA-423A-4849-09AC-443E1FA273D9}"/>
              </a:ext>
            </a:extLst>
          </p:cNvPr>
          <p:cNvSpPr/>
          <p:nvPr/>
        </p:nvSpPr>
        <p:spPr>
          <a:xfrm>
            <a:off x="5815262" y="1296367"/>
            <a:ext cx="2850071" cy="2841096"/>
          </a:xfrm>
          <a:prstGeom prst="ellipse">
            <a:avLst/>
          </a:prstGeom>
          <a:solidFill>
            <a:srgbClr val="F3D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363633"/>
                </a:solidFill>
                <a:ea typeface="+mn-lt"/>
                <a:cs typeface="+mn-lt"/>
              </a:rPr>
              <a:t>Limit Switches</a:t>
            </a:r>
            <a:endParaRPr lang="en-US">
              <a:solidFill>
                <a:srgbClr val="363633"/>
              </a:solidFill>
              <a:cs typeface="Arial"/>
            </a:endParaRPr>
          </a:p>
          <a:p>
            <a:pPr algn="ctr"/>
            <a:endParaRPr lang="en-US" sz="1100" b="1">
              <a:solidFill>
                <a:srgbClr val="363633"/>
              </a:solidFill>
              <a:cs typeface="Arial"/>
            </a:endParaRPr>
          </a:p>
          <a:p>
            <a:pPr marL="342900" indent="-342900">
              <a:buChar char="•"/>
            </a:pPr>
            <a:r>
              <a:rPr lang="en-US" sz="2000">
                <a:solidFill>
                  <a:srgbClr val="363633"/>
                </a:solidFill>
                <a:latin typeface="Montserrat"/>
              </a:rPr>
              <a:t>Boundaries</a:t>
            </a:r>
            <a:endParaRPr lang="en-US">
              <a:solidFill>
                <a:srgbClr val="363633"/>
              </a:solidFill>
              <a:cs typeface="Arial"/>
            </a:endParaRPr>
          </a:p>
          <a:p>
            <a:pPr marL="342900" indent="-342900">
              <a:buChar char="•"/>
            </a:pPr>
            <a:r>
              <a:rPr lang="en-US" sz="2000">
                <a:solidFill>
                  <a:srgbClr val="363633"/>
                </a:solidFill>
                <a:latin typeface="Montserrat"/>
              </a:rPr>
              <a:t>Homing</a:t>
            </a:r>
            <a:endParaRPr lang="en-US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730A4A-7024-23EF-A749-98D77D0AF0FA}"/>
              </a:ext>
            </a:extLst>
          </p:cNvPr>
          <p:cNvSpPr/>
          <p:nvPr/>
        </p:nvSpPr>
        <p:spPr>
          <a:xfrm>
            <a:off x="3146964" y="1296367"/>
            <a:ext cx="2850071" cy="2841096"/>
          </a:xfrm>
          <a:prstGeom prst="ellipse">
            <a:avLst/>
          </a:prstGeom>
          <a:solidFill>
            <a:srgbClr val="FFF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 dirty="0">
                <a:solidFill>
                  <a:srgbClr val="363633"/>
                </a:solidFill>
                <a:ea typeface="+mn-lt"/>
                <a:cs typeface="+mn-lt"/>
              </a:rPr>
              <a:t>Stripboard</a:t>
            </a:r>
            <a:endParaRPr lang="en-US" dirty="0">
              <a:solidFill>
                <a:srgbClr val="363633"/>
              </a:solidFill>
              <a:cs typeface="Arial"/>
            </a:endParaRPr>
          </a:p>
          <a:p>
            <a:pPr algn="ctr"/>
            <a:endParaRPr lang="en-US" sz="1100" b="1" dirty="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 dirty="0">
                <a:solidFill>
                  <a:srgbClr val="363633"/>
                </a:solidFill>
                <a:latin typeface="Montserrat"/>
              </a:rPr>
              <a:t>Permanent</a:t>
            </a:r>
            <a:endParaRPr lang="en-US" sz="1800" dirty="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 dirty="0">
                <a:solidFill>
                  <a:srgbClr val="363633"/>
                </a:solidFill>
                <a:latin typeface="Montserrat"/>
              </a:rPr>
              <a:t>Less Wiring</a:t>
            </a:r>
            <a:endParaRPr lang="en-US" sz="1800" dirty="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sz="1800" dirty="0" err="1">
                <a:solidFill>
                  <a:srgbClr val="363633"/>
                </a:solidFill>
                <a:latin typeface="Montserrat"/>
              </a:rPr>
              <a:t>Minimise</a:t>
            </a:r>
            <a:endParaRPr lang="en-US" sz="1800" dirty="0">
              <a:solidFill>
                <a:srgbClr val="EAEFF4"/>
              </a:solidFill>
              <a:latin typeface="Arial"/>
              <a:cs typeface="Arial"/>
            </a:endParaRPr>
          </a:p>
          <a:p>
            <a:r>
              <a:rPr lang="en-US" sz="1800" dirty="0">
                <a:solidFill>
                  <a:srgbClr val="363633"/>
                </a:solidFill>
                <a:latin typeface="Montserrat"/>
              </a:rPr>
              <a:t>  </a:t>
            </a:r>
            <a:r>
              <a:rPr lang="en-US" dirty="0">
                <a:solidFill>
                  <a:srgbClr val="363633"/>
                </a:solidFill>
                <a:latin typeface="Montserrat"/>
              </a:rPr>
              <a:t>Disconnect</a:t>
            </a:r>
            <a:endParaRPr lang="en-US" sz="1800" dirty="0">
              <a:cs typeface="Arial"/>
            </a:endParaRPr>
          </a:p>
          <a:p>
            <a:pPr algn="ctr"/>
            <a:endParaRPr lang="en-US" dirty="0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F2E2B-489C-F5F6-69B7-68A9A5AA5D22}"/>
              </a:ext>
            </a:extLst>
          </p:cNvPr>
          <p:cNvSpPr txBox="1"/>
          <p:nvPr/>
        </p:nvSpPr>
        <p:spPr>
          <a:xfrm>
            <a:off x="428625" y="4774168"/>
            <a:ext cx="4894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F3D23D"/>
                </a:solidFill>
              </a:rPr>
              <a:t>N</a:t>
            </a:r>
            <a:r>
              <a:rPr lang="en-GB" dirty="0" err="1">
                <a:solidFill>
                  <a:srgbClr val="F3D23D"/>
                </a:solidFill>
              </a:rPr>
              <a:t>ikitha</a:t>
            </a:r>
            <a:endParaRPr lang="en-GB" sz="1800" dirty="0">
              <a:solidFill>
                <a:srgbClr val="F3D2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64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E4790-1A3A-AE57-C53D-0D6B42A2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9BCC475-2B3B-2EE4-7F35-72F31ABE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66D628-4BEA-3185-01BD-78B7B75C1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1" y="4672895"/>
            <a:ext cx="1124107" cy="371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D7C8F0-B287-176D-E0EB-EECD6481DC43}"/>
              </a:ext>
            </a:extLst>
          </p:cNvPr>
          <p:cNvSpPr txBox="1"/>
          <p:nvPr/>
        </p:nvSpPr>
        <p:spPr>
          <a:xfrm>
            <a:off x="428625" y="4680855"/>
            <a:ext cx="630301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TWO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027A8-16B4-A21C-D80C-19D818EE40B8}"/>
              </a:ext>
            </a:extLst>
          </p:cNvPr>
          <p:cNvSpPr txBox="1"/>
          <p:nvPr/>
        </p:nvSpPr>
        <p:spPr>
          <a:xfrm>
            <a:off x="-648991" y="314809"/>
            <a:ext cx="765228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1" i="0" cap="all">
                <a:solidFill>
                  <a:srgbClr val="FFF150"/>
                </a:solidFill>
              </a:rPr>
              <a:t>Hardware and Base Software</a:t>
            </a:r>
          </a:p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422C83-9F9D-6310-C299-6CB31F863B81}"/>
              </a:ext>
            </a:extLst>
          </p:cNvPr>
          <p:cNvSpPr/>
          <p:nvPr/>
        </p:nvSpPr>
        <p:spPr>
          <a:xfrm>
            <a:off x="0" y="883527"/>
            <a:ext cx="9139670" cy="3714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3601B-17D8-CEDC-6281-FB456F4F1421}"/>
              </a:ext>
            </a:extLst>
          </p:cNvPr>
          <p:cNvSpPr txBox="1"/>
          <p:nvPr/>
        </p:nvSpPr>
        <p:spPr>
          <a:xfrm>
            <a:off x="428625" y="4774168"/>
            <a:ext cx="4894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F3D23D"/>
                </a:solidFill>
              </a:rPr>
              <a:t>N</a:t>
            </a:r>
            <a:r>
              <a:rPr lang="en-GB" dirty="0" err="1">
                <a:solidFill>
                  <a:srgbClr val="F3D23D"/>
                </a:solidFill>
              </a:rPr>
              <a:t>ikitha</a:t>
            </a:r>
            <a:endParaRPr lang="en-GB" sz="1800" dirty="0">
              <a:solidFill>
                <a:srgbClr val="F3D23D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A24985-6E24-E781-DCEB-F8A4925DB2AC}"/>
              </a:ext>
            </a:extLst>
          </p:cNvPr>
          <p:cNvSpPr/>
          <p:nvPr/>
        </p:nvSpPr>
        <p:spPr>
          <a:xfrm>
            <a:off x="471236" y="1316421"/>
            <a:ext cx="2850071" cy="2841096"/>
          </a:xfrm>
          <a:prstGeom prst="ellipse">
            <a:avLst/>
          </a:prstGeom>
          <a:solidFill>
            <a:srgbClr val="FFF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 b="1" dirty="0">
                <a:solidFill>
                  <a:srgbClr val="363633"/>
                </a:solidFill>
                <a:cs typeface="Arial"/>
              </a:rPr>
              <a:t>2 Micro Servos</a:t>
            </a:r>
          </a:p>
          <a:p>
            <a:pPr algn="ctr"/>
            <a:endParaRPr lang="en-US" sz="1400" b="1" dirty="0">
              <a:solidFill>
                <a:srgbClr val="363633"/>
              </a:solidFill>
              <a:latin typeface="Arial"/>
              <a:cs typeface="Arial"/>
            </a:endParaRPr>
          </a:p>
          <a:p>
            <a:pPr marL="285750" indent="-285750">
              <a:buChar char="•"/>
            </a:pPr>
            <a:r>
              <a:rPr lang="en-US" dirty="0">
                <a:solidFill>
                  <a:srgbClr val="363633"/>
                </a:solidFill>
                <a:latin typeface="Montserrat"/>
                <a:cs typeface="Arial"/>
              </a:rPr>
              <a:t>End-Effector</a:t>
            </a:r>
            <a:endParaRPr lang="en-US" dirty="0">
              <a:solidFill>
                <a:srgbClr val="363633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dirty="0">
                <a:solidFill>
                  <a:srgbClr val="363633"/>
                </a:solidFill>
                <a:latin typeface="Montserrat"/>
                <a:cs typeface="Arial"/>
              </a:rPr>
              <a:t>Grip and Flip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A314C4-AD45-23B7-CBAD-6187C7D6BD3D}"/>
              </a:ext>
            </a:extLst>
          </p:cNvPr>
          <p:cNvSpPr/>
          <p:nvPr/>
        </p:nvSpPr>
        <p:spPr>
          <a:xfrm>
            <a:off x="5815262" y="1296367"/>
            <a:ext cx="2850071" cy="2841096"/>
          </a:xfrm>
          <a:prstGeom prst="ellipse">
            <a:avLst/>
          </a:prstGeom>
          <a:solidFill>
            <a:srgbClr val="FFF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63633"/>
                </a:solidFill>
                <a:effectLst/>
                <a:uLnTx/>
                <a:uFillTx/>
                <a:latin typeface="Century Gothic" panose="020B0502020202020204"/>
                <a:ea typeface="+mn-lt"/>
                <a:cs typeface="+mn-lt"/>
              </a:rPr>
              <a:t>Homing Routine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363633"/>
              </a:solidFill>
              <a:effectLst/>
              <a:uLnTx/>
              <a:uFillTx/>
              <a:latin typeface="Century Gothic" panose="020B0502020202020204"/>
              <a:ea typeface="+mn-ea"/>
              <a:cs typeface="Arial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63633"/>
              </a:solidFill>
              <a:effectLst/>
              <a:uLnTx/>
              <a:uFillTx/>
              <a:latin typeface="Century Gothic" panose="020B0502020202020204"/>
              <a:ea typeface="+mn-ea"/>
              <a:cs typeface="Arial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36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Consistent  Positioning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3633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Reference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B4E50C-9CC9-15D7-B7AD-0B719D05FBCE}"/>
              </a:ext>
            </a:extLst>
          </p:cNvPr>
          <p:cNvSpPr/>
          <p:nvPr/>
        </p:nvSpPr>
        <p:spPr>
          <a:xfrm>
            <a:off x="3146964" y="1296367"/>
            <a:ext cx="2850071" cy="2841096"/>
          </a:xfrm>
          <a:prstGeom prst="ellipse">
            <a:avLst/>
          </a:prstGeom>
          <a:solidFill>
            <a:srgbClr val="F3D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63633"/>
                </a:solidFill>
                <a:effectLst/>
                <a:uLnTx/>
                <a:uFillTx/>
                <a:latin typeface="Century Gothic" panose="020B0502020202020204"/>
                <a:ea typeface="+mn-lt"/>
                <a:cs typeface="+mn-lt"/>
              </a:rPr>
              <a:t>Modular Code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363633"/>
              </a:solidFill>
              <a:effectLst/>
              <a:uLnTx/>
              <a:uFillTx/>
              <a:latin typeface="Century Gothic" panose="020B0502020202020204"/>
              <a:ea typeface="+mn-ea"/>
              <a:cs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63633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36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Adaptable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36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Intuitive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63633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36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  Functions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63633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363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Scalable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63633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363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D99364-79B6-E77E-0FA2-856E235F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5679C-C3B1-D82F-FC73-12BF5231B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32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DD907F-13A3-BDD9-1AC2-705DBFE9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9A1B7-B805-87BD-6158-46788AC25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59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BEF8E-CCF5-FB8C-955E-F740B9B0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2CD52-29B2-0653-D914-46CD3BD00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15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475FEE-9D8E-7479-2373-18B926204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18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6D4FF-FC9E-9F0B-5FEF-50431873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C4BDD0F-D515-023C-F409-CA19B986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567846-A430-2983-38BE-DAA1C9D95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1" y="4672895"/>
            <a:ext cx="1124107" cy="371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7202C5-DB05-7A5E-2647-6B224CEE431F}"/>
              </a:ext>
            </a:extLst>
          </p:cNvPr>
          <p:cNvSpPr txBox="1"/>
          <p:nvPr/>
        </p:nvSpPr>
        <p:spPr>
          <a:xfrm>
            <a:off x="428625" y="4680855"/>
            <a:ext cx="654346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FOUR</a:t>
            </a:r>
          </a:p>
        </p:txBody>
      </p:sp>
      <p:sp>
        <p:nvSpPr>
          <p:cNvPr id="3" name="Freeform 13">
            <a:extLst>
              <a:ext uri="{FF2B5EF4-FFF2-40B4-BE49-F238E27FC236}">
                <a16:creationId xmlns:a16="http://schemas.microsoft.com/office/drawing/2014/main" id="{0D1F033C-70C0-47C1-1F3C-710F61ED0DC3}"/>
              </a:ext>
            </a:extLst>
          </p:cNvPr>
          <p:cNvSpPr/>
          <p:nvPr/>
        </p:nvSpPr>
        <p:spPr>
          <a:xfrm>
            <a:off x="3642190" y="190072"/>
            <a:ext cx="4823452" cy="4060979"/>
          </a:xfrm>
          <a:custGeom>
            <a:avLst/>
            <a:gdLst/>
            <a:ahLst/>
            <a:cxnLst/>
            <a:rect l="l" t="t" r="r" b="b"/>
            <a:pathLst>
              <a:path w="5197896" h="5080943">
                <a:moveTo>
                  <a:pt x="0" y="0"/>
                </a:moveTo>
                <a:lnTo>
                  <a:pt x="5197896" y="0"/>
                </a:lnTo>
                <a:lnTo>
                  <a:pt x="5197896" y="5080943"/>
                </a:lnTo>
                <a:lnTo>
                  <a:pt x="0" y="5080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 sz="984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1B7E0DA-508D-5DB9-C197-DFEE2594A874}"/>
              </a:ext>
            </a:extLst>
          </p:cNvPr>
          <p:cNvSpPr txBox="1"/>
          <p:nvPr/>
        </p:nvSpPr>
        <p:spPr>
          <a:xfrm>
            <a:off x="576724" y="145794"/>
            <a:ext cx="6022636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91"/>
              </a:lnSpc>
            </a:pPr>
            <a:r>
              <a:rPr lang="en-US" sz="3295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SEQUENCE </a:t>
            </a:r>
          </a:p>
          <a:p>
            <a:pPr>
              <a:lnSpc>
                <a:spcPts val="3691"/>
              </a:lnSpc>
            </a:pPr>
            <a:r>
              <a:rPr lang="en-US" sz="3295" b="1" i="1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OVERVIEW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3CD7447-3C16-7308-9B47-7D8588BC89BF}"/>
              </a:ext>
            </a:extLst>
          </p:cNvPr>
          <p:cNvSpPr txBox="1"/>
          <p:nvPr/>
        </p:nvSpPr>
        <p:spPr>
          <a:xfrm>
            <a:off x="755797" y="1323252"/>
            <a:ext cx="2376701" cy="2667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6407" lvl="1" indent="-133204">
              <a:lnSpc>
                <a:spcPts val="2122"/>
              </a:lnSpc>
              <a:buFont typeface="Arial"/>
              <a:buChar char="•"/>
            </a:pPr>
            <a:r>
              <a:rPr lang="en-US" sz="1233" i="1">
                <a:solidFill>
                  <a:schemeClr val="accent2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Flipping of end effector limited to when J3 is home</a:t>
            </a:r>
          </a:p>
          <a:p>
            <a:pPr marL="266407" lvl="1" indent="-133204">
              <a:lnSpc>
                <a:spcPts val="2122"/>
              </a:lnSpc>
              <a:buFont typeface="Arial"/>
              <a:buChar char="•"/>
            </a:pPr>
            <a:r>
              <a:rPr lang="en-US" sz="1233" i="1">
                <a:solidFill>
                  <a:schemeClr val="accent2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Drop limited to when J1 is at home</a:t>
            </a:r>
          </a:p>
          <a:p>
            <a:pPr marL="266407" lvl="1" indent="-133204">
              <a:lnSpc>
                <a:spcPts val="2122"/>
              </a:lnSpc>
              <a:buFont typeface="Arial"/>
              <a:buChar char="•"/>
            </a:pPr>
            <a:r>
              <a:rPr lang="en-US" sz="1233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Serial ‘DONE’ ensures each movement completes before the next begins</a:t>
            </a:r>
          </a:p>
          <a:p>
            <a:pPr marL="266407" lvl="1" indent="-133204">
              <a:lnSpc>
                <a:spcPts val="2122"/>
              </a:lnSpc>
              <a:buFont typeface="Arial"/>
              <a:buChar char="•"/>
            </a:pPr>
            <a:r>
              <a:rPr lang="en-US" sz="1233" i="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Homing routine provides a repeatable reference position for every cycle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10B218-7426-DB39-2FE0-D769A085A73F}"/>
              </a:ext>
            </a:extLst>
          </p:cNvPr>
          <p:cNvSpPr txBox="1"/>
          <p:nvPr/>
        </p:nvSpPr>
        <p:spPr>
          <a:xfrm>
            <a:off x="428625" y="4774168"/>
            <a:ext cx="4894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F3D23D"/>
                </a:solidFill>
              </a:rPr>
              <a:t>Max</a:t>
            </a:r>
            <a:endParaRPr lang="en-GB" sz="1800" dirty="0">
              <a:solidFill>
                <a:srgbClr val="F3D2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581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2FCCB-A5FB-C185-4F2A-E5CB3174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88400B6-3AE9-A8C1-B7FF-71C17CBEC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7180E4-8607-91F4-18C3-38919695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1" y="4672895"/>
            <a:ext cx="1124107" cy="371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7270E3-8E0C-1CB5-C6C8-F2215AD1E26D}"/>
              </a:ext>
            </a:extLst>
          </p:cNvPr>
          <p:cNvSpPr txBox="1"/>
          <p:nvPr/>
        </p:nvSpPr>
        <p:spPr>
          <a:xfrm>
            <a:off x="428625" y="4680855"/>
            <a:ext cx="654346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FOUR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5043A6D-F01A-6242-60C4-728F9C95EE3A}"/>
              </a:ext>
            </a:extLst>
          </p:cNvPr>
          <p:cNvSpPr txBox="1"/>
          <p:nvPr/>
        </p:nvSpPr>
        <p:spPr>
          <a:xfrm>
            <a:off x="473371" y="496858"/>
            <a:ext cx="6022636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91"/>
              </a:lnSpc>
            </a:pPr>
            <a:r>
              <a:rPr lang="en-US" sz="3295" b="1" i="1" dirty="0">
                <a:solidFill>
                  <a:srgbClr val="FFEC4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End Effector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A5B59A-4B94-57AC-A67E-89F42361AA6F}"/>
              </a:ext>
            </a:extLst>
          </p:cNvPr>
          <p:cNvSpPr/>
          <p:nvPr/>
        </p:nvSpPr>
        <p:spPr>
          <a:xfrm>
            <a:off x="3430387" y="1583172"/>
            <a:ext cx="2510589" cy="1977156"/>
          </a:xfrm>
          <a:custGeom>
            <a:avLst/>
            <a:gdLst/>
            <a:ahLst/>
            <a:cxnLst/>
            <a:rect l="l" t="t" r="r" b="b"/>
            <a:pathLst>
              <a:path w="3257548" h="2418729">
                <a:moveTo>
                  <a:pt x="0" y="0"/>
                </a:moveTo>
                <a:lnTo>
                  <a:pt x="3257548" y="0"/>
                </a:lnTo>
                <a:lnTo>
                  <a:pt x="3257548" y="2418729"/>
                </a:lnTo>
                <a:lnTo>
                  <a:pt x="0" y="2418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71" r="-65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2BD77D4-0536-BA7C-EECF-A10003FC9722}"/>
              </a:ext>
            </a:extLst>
          </p:cNvPr>
          <p:cNvSpPr/>
          <p:nvPr/>
        </p:nvSpPr>
        <p:spPr>
          <a:xfrm>
            <a:off x="6349632" y="1583172"/>
            <a:ext cx="2510589" cy="1977156"/>
          </a:xfrm>
          <a:custGeom>
            <a:avLst/>
            <a:gdLst/>
            <a:ahLst/>
            <a:cxnLst/>
            <a:rect l="l" t="t" r="r" b="b"/>
            <a:pathLst>
              <a:path w="3257548" h="2465434">
                <a:moveTo>
                  <a:pt x="0" y="0"/>
                </a:moveTo>
                <a:lnTo>
                  <a:pt x="3257548" y="0"/>
                </a:lnTo>
                <a:lnTo>
                  <a:pt x="3257548" y="2465434"/>
                </a:lnTo>
                <a:lnTo>
                  <a:pt x="0" y="2465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20" b="-1905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F9A34DDA-5134-0971-B378-2BBAB180B750}"/>
              </a:ext>
            </a:extLst>
          </p:cNvPr>
          <p:cNvSpPr/>
          <p:nvPr/>
        </p:nvSpPr>
        <p:spPr>
          <a:xfrm>
            <a:off x="283779" y="1583172"/>
            <a:ext cx="2510588" cy="1977156"/>
          </a:xfrm>
          <a:custGeom>
            <a:avLst/>
            <a:gdLst/>
            <a:ahLst/>
            <a:cxnLst/>
            <a:rect l="l" t="t" r="r" b="b"/>
            <a:pathLst>
              <a:path w="3257548" h="2418729">
                <a:moveTo>
                  <a:pt x="0" y="0"/>
                </a:moveTo>
                <a:lnTo>
                  <a:pt x="3257548" y="0"/>
                </a:lnTo>
                <a:lnTo>
                  <a:pt x="3257548" y="2418729"/>
                </a:lnTo>
                <a:lnTo>
                  <a:pt x="0" y="2418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6644B-E4BA-CD75-7987-C885D94C4673}"/>
              </a:ext>
            </a:extLst>
          </p:cNvPr>
          <p:cNvSpPr txBox="1"/>
          <p:nvPr/>
        </p:nvSpPr>
        <p:spPr>
          <a:xfrm>
            <a:off x="428625" y="4774168"/>
            <a:ext cx="4894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F3D23D"/>
                </a:solidFill>
              </a:rPr>
              <a:t>Max</a:t>
            </a:r>
            <a:endParaRPr lang="en-GB" sz="1800" dirty="0">
              <a:solidFill>
                <a:srgbClr val="F3D2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29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C640A-49EF-26C1-C3E0-3F9F0D685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128835-06F0-17B1-9A79-EEF095B46F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3" y="369300"/>
            <a:ext cx="4207725" cy="7878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F11714-D3E5-1EFC-110D-124F88CC1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88889"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58B9F5-7E38-CC37-E5FC-C44DFBAA7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717" y="1157103"/>
            <a:ext cx="3658722" cy="3300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D67264-35ED-0B5B-ADA4-1B7789162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71" y="4680855"/>
            <a:ext cx="1124107" cy="363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3D530E-5EA7-C539-79BA-378BF8C1E7B8}"/>
              </a:ext>
            </a:extLst>
          </p:cNvPr>
          <p:cNvSpPr txBox="1"/>
          <p:nvPr/>
        </p:nvSpPr>
        <p:spPr>
          <a:xfrm>
            <a:off x="428625" y="4680855"/>
            <a:ext cx="670376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" spc="50">
                <a:solidFill>
                  <a:srgbClr val="FFF150"/>
                </a:solidFill>
                <a:latin typeface="Montserrat" panose="00000500000000000000" pitchFamily="2" charset="0"/>
              </a:rPr>
              <a:t>SECTION FINAL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A69F6B-A47C-4234-19E4-B04F2E7FFA8B}"/>
              </a:ext>
            </a:extLst>
          </p:cNvPr>
          <p:cNvSpPr txBox="1"/>
          <p:nvPr/>
        </p:nvSpPr>
        <p:spPr>
          <a:xfrm>
            <a:off x="509218" y="1944906"/>
            <a:ext cx="1786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/>
              <a:t>SEE IT. PICK IT. SORT IT.</a:t>
            </a:r>
          </a:p>
        </p:txBody>
      </p:sp>
    </p:spTree>
    <p:extLst>
      <p:ext uri="{BB962C8B-B14F-4D97-AF65-F5344CB8AC3E}">
        <p14:creationId xmlns:p14="http://schemas.microsoft.com/office/powerpoint/2010/main" val="3612488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</TotalTime>
  <Words>178</Words>
  <Application>Microsoft Office PowerPoint</Application>
  <PresentationFormat>On-screen Show (16:9)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Century Gothic</vt:lpstr>
      <vt:lpstr>Montserrat Italics</vt:lpstr>
      <vt:lpstr>Bebas Neue Bold</vt:lpstr>
      <vt:lpstr>Montserrat</vt:lpstr>
      <vt:lpstr>Arial</vt:lpstr>
      <vt:lpstr>Montserrat Bold</vt:lpstr>
      <vt:lpstr>Montserrat Bold Italics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Nikitha Prabhakar</dc:creator>
  <cp:lastModifiedBy>Nikitha Prabhakar</cp:lastModifiedBy>
  <cp:revision>3</cp:revision>
  <dcterms:modified xsi:type="dcterms:W3CDTF">2026-04-13T09:57:08Z</dcterms:modified>
</cp:coreProperties>
</file>